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7"/>
    <p:sldId id="269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6" Type="http://schemas.openxmlformats.org/officeDocument/2006/relationships/slide" Target="slides/slide14.xml"/><Relationship Id="rId7" Type="http://schemas.openxmlformats.org/officeDocument/2006/relationships/slide" Target="slides/slide13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EFBD8A-55E3-F444-88AF-3310ADFC16F8}" type="datetimeFigureOut">
              <a:rPr lang="en-US" altLang="ko-KR"/>
              <a:t>9/11/2026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4CDA99-3326-5A4B-BC5F-2C3B6DE437C0}" type="slidenum">
              <a:rPr lang="en-US" altLang="ko-KR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961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566928"/>
            <a:ext cx="7717536" cy="27432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58368" y="963778"/>
            <a:ext cx="7772400" cy="1722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/>
            <a:r>
              <a:rPr lang="en-US" sz="3000" dirty="0" i="0">
                <a:solidFill>
                  <a:srgbClr val="002B5C"/>
                </a:solidFill>
                <a:latin typeface="Cambria" pitchFamily="34" charset="0"/>
                <a:ea typeface="맑은 고딕" pitchFamily="34" charset="-122"/>
                <a:cs typeface="맑은 고딕" pitchFamily="34" charset="-120"/>
              </a:rPr>
              <a:t>HHKL 블록의 변분 회로 학습:</a:t>
            </a:r>
            <a:endParaRPr lang="en-US" altLang="ko-KR" sz="3400" dirty="0"/>
          </a:p>
          <a:p>
            <a:pPr/>
            <a:r>
              <a:rPr sz="3000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5×6 Heisenberg 블록과 데스크탑 리허설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694944" y="23774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 i="0">
                <a:solidFill>
                  <a:srgbClr val="1F5FA8"/>
                </a:solidFill>
                <a:latin typeface="Cambria" pitchFamily="34" charset="0"/>
                <a:ea typeface="맑은 고딕" pitchFamily="34" charset="-122"/>
                <a:cs typeface="맑은 고딕" pitchFamily="34" charset="-120"/>
              </a:rPr>
              <a:t>HHKL-VQA toy · Stage 7–8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94944" y="3520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Yonsei University dept. of Physics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3776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Hyunwoo Choi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0" y="4718304"/>
            <a:ext cx="9144000" cy="425196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p/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0192484-7191-892F-C49B-392203226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23" y="4126707"/>
            <a:ext cx="641177" cy="5088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256032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01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92608"/>
            <a:ext cx="4507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HHKL-VQA toy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795528"/>
            <a:ext cx="36576" cy="27432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8138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전체 문제: 10×10 Heisenberg 모델의 시간 진화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18304"/>
            <a:ext cx="9144000" cy="429768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375904" y="4572000"/>
            <a:ext cx="182880" cy="0"/>
          </a:xfrm>
          <a:prstGeom prst="line">
            <a:avLst/>
          </a:prstGeom>
          <a:ln w="635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55279" y="4572000"/>
            <a:ext cx="6035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mbria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" y="1280160"/>
            <a:ext cx="4572000" cy="566928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q_H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87" y="1344168"/>
            <a:ext cx="3959961" cy="4389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9768" y="188366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Cambria"/>
                <a:ea typeface="맑은 고딕"/>
                <a:cs typeface="맑은 고딕"/>
              </a:rPr>
              <a:t>10×10 정사각 격자, open boundary, 무질서 장 seed 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" y="2331720"/>
            <a:ext cx="36576" cy="20116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286000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n = 100,  T = 100,  ε = 0.01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Cambria"/>
                <a:ea typeface="맑은 고딕"/>
                <a:cs typeface="맑은 고딕"/>
              </a:rPr>
              <a:t>목표 정확도는 spectral norm 기준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" y="2926079"/>
            <a:ext cx="36576" cy="20116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880360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HHKL 분해 (Haah, Hastings, Kothari, Low 2018)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Cambria"/>
                <a:ea typeface="맑은 고딕"/>
                <a:cs typeface="맑은 고딕"/>
              </a:rPr>
              <a:t>전체 진화 exp(−iHT)를 작은 블록 진화들의 곱으로 쪼갠다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" y="3520439"/>
            <a:ext cx="36576" cy="20116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474720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블록 하나 = 5×6 = 30 qubits (ℓ = 3)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Cambria"/>
                <a:ea typeface="맑은 고딕"/>
                <a:cs typeface="맑은 고딕"/>
              </a:rPr>
              <a:t>각 블록 진화 exp(−iH_blk t)를 변분 회로(HVA)로 컴파일한다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1280160"/>
            <a:ext cx="3319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오차 예산 ε = 0.01을 셋으로 나눈다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94960" y="1664208"/>
            <a:ext cx="3319272" cy="749808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20" y="1664208"/>
            <a:ext cx="8229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ε/3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664208"/>
            <a:ext cx="22402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LR 분해 오차 (블록 경계 절단)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2560320"/>
            <a:ext cx="3319272" cy="749808"/>
          </a:xfrm>
          <a:prstGeom prst="rect">
            <a:avLst/>
          </a:prstGeom>
          <a:solidFill>
            <a:srgbClr val="DCE8F7"/>
          </a:solidFill>
          <a:ln w="952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0" y="2560320"/>
            <a:ext cx="8229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ε/3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560320"/>
            <a:ext cx="22402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블록 구현 오차 — 이번 실험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0" y="3456432"/>
            <a:ext cx="3319272" cy="749808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32120" y="3456432"/>
            <a:ext cx="8229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ε/3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456432"/>
            <a:ext cx="22402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회전 게이트 합성 오차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256032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01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92608"/>
            <a:ext cx="4507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HHKL-VQA toy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795528"/>
            <a:ext cx="36576" cy="27432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8138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블록 시뮬레이션: 5×6 블록 (30 qubits, 49 bonds)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18304"/>
            <a:ext cx="9144000" cy="429768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375904" y="4572000"/>
            <a:ext cx="182880" cy="0"/>
          </a:xfrm>
          <a:prstGeom prst="line">
            <a:avLst/>
          </a:prstGeom>
          <a:ln w="635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55279" y="4572000"/>
            <a:ext cx="6035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mbria"/>
                <a:ea typeface="맑은 고딕"/>
                <a:cs typeface="맑은 고딕"/>
              </a:rPr>
              <a:t>3</a:t>
            </a:r>
          </a:p>
        </p:txBody>
      </p:sp>
      <p:pic>
        <p:nvPicPr>
          <p:cNvPr id="9" name="Picture 8" descr="block5x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2963408" cy="336499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886200" y="1280160"/>
            <a:ext cx="4828032" cy="54864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q_H_b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19" y="1367942"/>
            <a:ext cx="4462393" cy="373075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886200" y="2011680"/>
          <a:ext cx="4828031" cy="148132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92656"/>
                <a:gridCol w="3350063"/>
                <a:gridCol w="985312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색</a:t>
                      </a:r>
                    </a:p>
                  </a:txBody>
                  <a:tcPr marL="45720" marR="45720" marT="18288" marB="18288"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본드</a:t>
                      </a:r>
                    </a:p>
                  </a:txBody>
                  <a:tcPr marL="45720" marR="45720" marT="18288" marB="18288"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개수</a:t>
                      </a:r>
                    </a:p>
                  </a:txBody>
                  <a:tcPr marL="45720" marR="45720" marT="18288" marB="18288" anchor="ctr">
                    <a:solidFill>
                      <a:srgbClr val="002B5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가로 (r,c)–(r,c+1), c 짝수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B</a:t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가로, c 홀수</a:t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12</a:t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세로 (r,c)–(r+1,c), r 짝수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세로, r 홀수</a:t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F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장 Σ h_j Z_j  (CNOT 없음)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30 qubits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142232" y="2340864"/>
            <a:ext cx="146304" cy="82296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42232" y="2587752"/>
            <a:ext cx="146304" cy="8229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42232" y="2834640"/>
            <a:ext cx="146304" cy="82296"/>
          </a:xfrm>
          <a:prstGeom prst="rect">
            <a:avLst/>
          </a:prstGeom>
          <a:solidFill>
            <a:srgbClr val="D9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42232" y="3081528"/>
            <a:ext cx="146304" cy="82296"/>
          </a:xfrm>
          <a:prstGeom prst="rect">
            <a:avLst/>
          </a:prstGeom>
          <a:solidFill>
            <a:srgbClr val="B0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42232" y="3328416"/>
            <a:ext cx="146304" cy="82296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86200" y="3657600"/>
            <a:ext cx="36576" cy="20116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0" y="3611880"/>
            <a:ext cx="46908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같은 색의 본드끼리는 겹치지 않는다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Cambria"/>
                <a:ea typeface="맑은 고딕"/>
                <a:cs typeface="맑은 고딕"/>
              </a:rPr>
              <a:t>→ 한 색의 게이트를 동시에, 정확하게 적용할 수 있다 (Trotter 오차는 색 사이에서만)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224528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Cambria"/>
                <a:ea typeface="맑은 고딕"/>
                <a:cs typeface="맑은 고딕"/>
              </a:rPr>
              <a:t>큐비트 i = 5r + c,  h_j ~ U[−1,1] (seed 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256032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02 Block &amp; ansatz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92608"/>
            <a:ext cx="4507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HHKL-VQA toy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795528"/>
            <a:ext cx="36576" cy="27432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8138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동작점 t* = 3.41×10⁻³ 와 블록 오차 예산 ε_blk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18304"/>
            <a:ext cx="9144000" cy="429768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375904" y="4572000"/>
            <a:ext cx="182880" cy="0"/>
          </a:xfrm>
          <a:prstGeom prst="line">
            <a:avLst/>
          </a:prstGeom>
          <a:ln w="635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55279" y="4572000"/>
            <a:ext cx="6035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mbria"/>
                <a:ea typeface="맑은 고딕"/>
                <a:cs typeface="맑은 고딕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" y="1325880"/>
            <a:ext cx="36576" cy="20116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280160"/>
            <a:ext cx="47091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t는 클수록 유리하다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Cambria"/>
                <a:ea typeface="맑은 고딕"/>
                <a:cs typeface="맑은 고딕"/>
              </a:rPr>
              <a:t>블록 호출 수 m ∝ 1/t, 블록 비용은 작은 t에서 거의 일정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" y="1874519"/>
            <a:ext cx="36576" cy="20116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828800"/>
            <a:ext cx="47091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t의 상한은 Lieb–Robinson 오차가 정한다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Cambria"/>
                <a:ea typeface="맑은 고딕"/>
                <a:cs typeface="맑은 고딕"/>
              </a:rPr>
              <a:t>경계 하나의 LR 오차 ε_LR, 단위시간당 잘리는 경계 수 B</a:t>
            </a:r>
          </a:p>
        </p:txBody>
      </p:sp>
      <p:pic>
        <p:nvPicPr>
          <p:cNvPr id="13" name="Picture 12" descr="eq_ts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95728"/>
            <a:ext cx="3096524" cy="28748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29768" y="2926079"/>
            <a:ext cx="36576" cy="20116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880360"/>
            <a:ext cx="47091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블록 오차는 더해진다 → 최악 경우(spectral norm)로 인증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Cambria"/>
                <a:ea typeface="맑은 고딕"/>
                <a:cs typeface="맑은 고딕"/>
              </a:rPr>
              <a:t>삼각부등식은 spectral norm에서 성립한다</a:t>
            </a:r>
          </a:p>
        </p:txBody>
      </p:sp>
      <p:pic>
        <p:nvPicPr>
          <p:cNvPr id="16" name="Picture 15" descr="eq_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456432"/>
            <a:ext cx="3006547" cy="41696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6928" y="40416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Cambria"/>
                <a:ea typeface="맑은 고딕"/>
                <a:cs typeface="맑은 고딕"/>
              </a:rPr>
              <a:t>(α, β, γ) = (0.175, 7.9, 0.95): Haah et al. 1D 피팅을 2D로 외삽한 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05272" y="1280160"/>
            <a:ext cx="3108960" cy="914400"/>
          </a:xfrm>
          <a:prstGeom prst="rect">
            <a:avLst/>
          </a:prstGeom>
          <a:solidFill>
            <a:srgbClr val="DCE8F7"/>
          </a:solidFill>
          <a:ln w="952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05272" y="1353312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t* = 3.41×10⁻³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96712" y="1828800"/>
            <a:ext cx="2926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Cambria"/>
                <a:ea typeface="맑은 고딕"/>
                <a:cs typeface="맑은 고딕"/>
              </a:rPr>
              <a:t>LR 예산 ε/3이 허용하는 최대 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05272" y="2331720"/>
            <a:ext cx="3108960" cy="91440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05272" y="2404872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m = 1.95×10⁶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96712" y="2880360"/>
            <a:ext cx="2926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Cambria"/>
                <a:ea typeface="맑은 고딕"/>
                <a:cs typeface="맑은 고딕"/>
              </a:rPr>
              <a:t>5×6 블록 호출 수  (m = N_pu T / 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05272" y="3383280"/>
            <a:ext cx="3108960" cy="1005840"/>
          </a:xfrm>
          <a:prstGeom prst="rect">
            <a:avLst/>
          </a:prstGeom>
          <a:solidFill>
            <a:srgbClr val="FBEEDA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05272" y="3456432"/>
            <a:ext cx="310896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ε_blk = 1.71×10⁻⁹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6712" y="3986784"/>
            <a:ext cx="2926079" cy="352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Cambria"/>
                <a:ea typeface="맑은 고딕"/>
                <a:cs typeface="맑은 고딕"/>
              </a:rPr>
              <a:t>블록당 허용 spectral 오차 = ε / (3m)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256032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02 Block &amp; ansatz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92608"/>
            <a:ext cx="4507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HHKL-VQA toy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795528"/>
            <a:ext cx="36576" cy="27432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8138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Ansatz P1: palindromic HVA (색별 각도 공유)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18304"/>
            <a:ext cx="9144000" cy="429768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375904" y="4572000"/>
            <a:ext cx="182880" cy="0"/>
          </a:xfrm>
          <a:prstGeom prst="line">
            <a:avLst/>
          </a:prstGeom>
          <a:ln w="635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55279" y="4572000"/>
            <a:ext cx="6035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mbria"/>
                <a:ea typeface="맑은 고딕"/>
                <a:cs typeface="맑은 고딕"/>
              </a:rPr>
              <a:t>5</a:t>
            </a:r>
          </a:p>
        </p:txBody>
      </p:sp>
      <p:pic>
        <p:nvPicPr>
          <p:cNvPr id="9" name="Picture 8" descr="p1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19362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3124991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77777"/>
                </a:solidFill>
                <a:latin typeface="Cambria"/>
                <a:ea typeface="맑은 고딕"/>
                <a:cs typeface="맑은 고딕"/>
              </a:rPr>
              <a:t>L = 4 예시. 테두리 = 층 경계에서 병합된 슬롯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" y="3520440"/>
            <a:ext cx="4206240" cy="566928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q_s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17" y="3595695"/>
            <a:ext cx="3365540" cy="41641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9768" y="4123944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Cambria"/>
                <a:ea typeface="맑은 고딕"/>
                <a:cs typeface="맑은 고딕"/>
              </a:rPr>
              <a:t>각 슬롯의 각도 = t × c  (학습 변수 c는 O(1))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2040" y="3538727"/>
            <a:ext cx="36576" cy="20116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3493008"/>
            <a:ext cx="3703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본드 하나 = 3 CNOT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Cambria"/>
                <a:ea typeface="맑은 고딕"/>
                <a:cs typeface="맑은 고딕"/>
              </a:rPr>
              <a:t>XX·YY 각도를 묶어 U(1) 대칭(ΣZ 보존) 유지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92040" y="4069080"/>
            <a:ext cx="36576" cy="20116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4023360"/>
            <a:ext cx="3703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층 경계 병합 → 슬롯 4L+1개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Cambria"/>
                <a:ea typeface="맑은 고딕"/>
                <a:cs typeface="맑은 고딕"/>
              </a:rPr>
              <a:t>F+F, A+A 병합 (A+A는 5×6에서 36 CNOT 절약)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256032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02 Block &amp; ansatz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92608"/>
            <a:ext cx="4507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HHKL-VQA toy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795528"/>
            <a:ext cx="36576" cy="27432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8138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L = 2, 4, 6, 10: 각 L에 들어가는 가장 높은 차수의 Trotter 공식으로 시작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18304"/>
            <a:ext cx="9144000" cy="429768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375904" y="4572000"/>
            <a:ext cx="182880" cy="0"/>
          </a:xfrm>
          <a:prstGeom prst="line">
            <a:avLst/>
          </a:prstGeom>
          <a:ln w="635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55279" y="4572000"/>
            <a:ext cx="6035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mbria"/>
                <a:ea typeface="맑은 고딕"/>
                <a:cs typeface="맑은 고딕"/>
              </a:rPr>
              <a:t>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29768" y="1325880"/>
          <a:ext cx="2926079" cy="1371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5120"/>
                <a:gridCol w="585216"/>
                <a:gridCol w="390144"/>
                <a:gridCol w="520192"/>
                <a:gridCol w="455167"/>
                <a:gridCol w="65024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L</a:t>
                      </a:r>
                    </a:p>
                  </a:txBody>
                  <a:tcPr marL="45720" marR="45720" marT="18288" marB="18288"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초기값</a:t>
                      </a:r>
                    </a:p>
                  </a:txBody>
                  <a:tcPr marL="45720" marR="45720" marT="18288" marB="18288"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차수</a:t>
                      </a:r>
                    </a:p>
                  </a:txBody>
                  <a:tcPr marL="45720" marR="45720" marT="18288" marB="18288"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CNOT</a:t>
                      </a:r>
                    </a:p>
                  </a:txBody>
                  <a:tcPr marL="45720" marR="45720" marT="18288" marB="18288"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깊이</a:t>
                      </a:r>
                    </a:p>
                  </a:txBody>
                  <a:tcPr marL="45720" marR="45720" marT="18288" marB="18288"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파라미터</a:t>
                      </a:r>
                    </a:p>
                  </a:txBody>
                  <a:tcPr marL="45720" marR="45720" marT="18288" marB="18288" anchor="ctr">
                    <a:solidFill>
                      <a:srgbClr val="002B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S2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294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24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17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S2²</a:t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552</a:t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45</a:t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32</a:t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Y4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810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66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47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S4</a:t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1326</a:t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108</a:t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77</a:t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29768" y="2743200"/>
            <a:ext cx="3154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Cambria"/>
                <a:ea typeface="맑은 고딕"/>
                <a:cs typeface="맑은 고딕"/>
              </a:rPr>
              <a:t>CNOT = 147L − 36⌊(L−1)/2⌋ (5×6 기준)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" y="3108960"/>
            <a:ext cx="36576" cy="20116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0632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Y4: 3단 4차 공식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Cambria"/>
                <a:ea typeface="맑은 고딕"/>
                <a:cs typeface="맑은 고딕"/>
              </a:rPr>
              <a:t>S4보다 짧지만(6층) 오차 상수가 약 26배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" y="3703320"/>
            <a:ext cx="36576" cy="20116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6576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같은 L = 6에서 Y4 ≈ S2³ × 1/200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Cambria"/>
                <a:ea typeface="맑은 고딕"/>
                <a:cs typeface="맑은 고딕"/>
              </a:rPr>
              <a:t>초기값의 차수가 학습 결과를 좌우</a:t>
            </a:r>
          </a:p>
        </p:txBody>
      </p:sp>
      <p:pic>
        <p:nvPicPr>
          <p:cNvPr id="15" name="Picture 14" descr="trotter_coef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188720"/>
            <a:ext cx="5303520" cy="281967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429000" y="40690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777777"/>
                </a:solidFill>
                <a:latin typeface="Cambria"/>
                <a:ea typeface="맑은 고딕"/>
                <a:cs typeface="맑은 고딕"/>
              </a:rPr>
              <a:t>슬롯별 계수 c (각도 = t·c). 음수 = 시간을 거꾸로 진행하는 단계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256032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02 Block &amp; ansatz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92608"/>
            <a:ext cx="4507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HHKL-VQA toy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795528"/>
            <a:ext cx="36576" cy="27432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8138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초기값 풀어쓰기 (1): S2와 Y4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18304"/>
            <a:ext cx="9144000" cy="429768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375904" y="4572000"/>
            <a:ext cx="182880" cy="0"/>
          </a:xfrm>
          <a:prstGeom prst="line">
            <a:avLst/>
          </a:prstGeom>
          <a:ln w="635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55279" y="4572000"/>
            <a:ext cx="6035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mbria"/>
                <a:ea typeface="맑은 고딕"/>
                <a:cs typeface="맑은 고딕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" y="1234440"/>
            <a:ext cx="8284464" cy="41148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q_no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518" y="1334566"/>
            <a:ext cx="3432962" cy="21122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9768" y="178308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S2 (L = 2): 정방향 1층 + 역방향 1층, 모든 슬롯 1/2, F는 병합되어 1</a:t>
            </a:r>
          </a:p>
        </p:txBody>
      </p:sp>
      <p:pic>
        <p:nvPicPr>
          <p:cNvPr id="12" name="Picture 11" descr="eq_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03120"/>
            <a:ext cx="3360115" cy="2292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9768" y="2560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Y4 (L = 6): 세 단계 (w, 1−2w, w). 단계 경계의 A는 앞뒤 계수의 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260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5FA8"/>
                </a:solidFill>
                <a:latin typeface="Cambria"/>
                <a:ea typeface="맑은 고딕"/>
                <a:cs typeface="맑은 고딕"/>
              </a:rPr>
              <a:t>1단 (w)</a:t>
            </a:r>
          </a:p>
        </p:txBody>
      </p:sp>
      <p:pic>
        <p:nvPicPr>
          <p:cNvPr id="15" name="Picture 14" descr="eq_Y4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2907792"/>
            <a:ext cx="2938272" cy="21701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331012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5FA8"/>
                </a:solidFill>
                <a:latin typeface="Cambria"/>
                <a:ea typeface="맑은 고딕"/>
                <a:cs typeface="맑은 고딕"/>
              </a:rPr>
              <a:t>2단 (1−2w)</a:t>
            </a:r>
          </a:p>
        </p:txBody>
      </p:sp>
      <p:pic>
        <p:nvPicPr>
          <p:cNvPr id="17" name="Picture 16" descr="eq_Y4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3291840"/>
            <a:ext cx="4969459" cy="22920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369417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5FA8"/>
                </a:solidFill>
                <a:latin typeface="Cambria"/>
                <a:ea typeface="맑은 고딕"/>
                <a:cs typeface="맑은 고딕"/>
              </a:rPr>
              <a:t>3단 (w)</a:t>
            </a:r>
          </a:p>
        </p:txBody>
      </p:sp>
      <p:pic>
        <p:nvPicPr>
          <p:cNvPr id="19" name="Picture 18" descr="eq_Y4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0" y="3675888"/>
            <a:ext cx="3506419" cy="229209"/>
          </a:xfrm>
          <a:prstGeom prst="rect">
            <a:avLst/>
          </a:prstGeom>
        </p:spPr>
      </p:pic>
      <p:pic>
        <p:nvPicPr>
          <p:cNvPr id="20" name="Picture 19" descr="eq_Y4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0200" y="4114800"/>
            <a:ext cx="2907792" cy="24460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120640" y="4133087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Cambria"/>
                <a:ea typeface="맑은 고딕"/>
                <a:cs typeface="맑은 고딕"/>
              </a:rPr>
              <a:t>그룹마다 계수의 합 = 1 (총 시간 t),
좌우 대칭 → 홀수 차수 오차만 남는다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256032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02 Block &amp; ansatz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92608"/>
            <a:ext cx="4507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HHKL-VQA toy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795528"/>
            <a:ext cx="36576" cy="27432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8138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초기값 풀어쓰기 (2): S4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18304"/>
            <a:ext cx="9144000" cy="429768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375904" y="4572000"/>
            <a:ext cx="182880" cy="0"/>
          </a:xfrm>
          <a:prstGeom prst="line">
            <a:avLst/>
          </a:prstGeom>
          <a:ln w="635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55279" y="4572000"/>
            <a:ext cx="6035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mbria"/>
                <a:ea typeface="맑은 고딕"/>
                <a:cs typeface="맑은 고딕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2344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S4 (L = 10): 다섯 단계 (u, u, 1−4u, u, u). 가운데 단계만 음의 시간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5FA8"/>
                </a:solidFill>
                <a:latin typeface="Cambria"/>
                <a:ea typeface="맑은 고딕"/>
                <a:cs typeface="맑은 고딕"/>
              </a:rPr>
              <a:t>1단 (u)</a:t>
            </a:r>
          </a:p>
        </p:txBody>
      </p:sp>
      <p:pic>
        <p:nvPicPr>
          <p:cNvPr id="11" name="Picture 10" descr="eq_S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627632"/>
            <a:ext cx="2801721" cy="21701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202996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5FA8"/>
                </a:solidFill>
                <a:latin typeface="Cambria"/>
                <a:ea typeface="맑은 고딕"/>
                <a:cs typeface="맑은 고딕"/>
              </a:rPr>
              <a:t>2단 (u)</a:t>
            </a:r>
          </a:p>
        </p:txBody>
      </p:sp>
      <p:pic>
        <p:nvPicPr>
          <p:cNvPr id="13" name="Picture 12" descr="eq_S4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011680"/>
            <a:ext cx="2809036" cy="21701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41401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C08A2E"/>
                </a:solidFill>
                <a:latin typeface="Cambria"/>
                <a:ea typeface="맑은 고딕"/>
                <a:cs typeface="맑은 고딕"/>
              </a:rPr>
              <a:t>3단 (1−4u)</a:t>
            </a:r>
          </a:p>
        </p:txBody>
      </p:sp>
      <p:pic>
        <p:nvPicPr>
          <p:cNvPr id="15" name="Picture 14" descr="eq_S4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2395728"/>
            <a:ext cx="4888992" cy="2316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279806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5FA8"/>
                </a:solidFill>
                <a:latin typeface="Cambria"/>
                <a:ea typeface="맑은 고딕"/>
                <a:cs typeface="맑은 고딕"/>
              </a:rPr>
              <a:t>4단 (u)</a:t>
            </a:r>
          </a:p>
        </p:txBody>
      </p:sp>
      <p:pic>
        <p:nvPicPr>
          <p:cNvPr id="17" name="Picture 16" descr="eq_S4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2779776"/>
            <a:ext cx="3048000" cy="2316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318211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5FA8"/>
                </a:solidFill>
                <a:latin typeface="Cambria"/>
                <a:ea typeface="맑은 고딕"/>
                <a:cs typeface="맑은 고딕"/>
              </a:rPr>
              <a:t>5단 (u)</a:t>
            </a:r>
          </a:p>
        </p:txBody>
      </p:sp>
      <p:pic>
        <p:nvPicPr>
          <p:cNvPr id="19" name="Picture 18" descr="eq_S4_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0" y="3163824"/>
            <a:ext cx="3169920" cy="217017"/>
          </a:xfrm>
          <a:prstGeom prst="rect">
            <a:avLst/>
          </a:prstGeom>
        </p:spPr>
      </p:pic>
      <p:pic>
        <p:nvPicPr>
          <p:cNvPr id="20" name="Picture 19" descr="eq_S4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0200" y="3639312"/>
            <a:ext cx="2864358" cy="24460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29768" y="4023360"/>
            <a:ext cx="8284464" cy="45720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023360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같은 회로 구조(P1) 안에서 각도만 다르다. </a:t>
            </a:r>
            <a:r>
              <a:rPr sz="1100" b="0" i="0">
                <a:solidFill>
                  <a:srgbClr val="555555"/>
                </a:solidFill>
                <a:latin typeface="Cambria"/>
                <a:ea typeface="맑은 고딕"/>
                <a:cs typeface="맑은 고딕"/>
              </a:rPr>
              <a:t>학습은 이 Trotter 각도에서 출발해 77개 각도를 모두 독립적으로 조정한다.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256032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03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92608"/>
            <a:ext cx="4507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HHKL-VQA toy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795528"/>
            <a:ext cx="36576" cy="27432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8138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손실 함수: Haar 평균 손실 (차이벡터 형태)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18304"/>
            <a:ext cx="9144000" cy="429768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375904" y="4572000"/>
            <a:ext cx="182880" cy="0"/>
          </a:xfrm>
          <a:prstGeom prst="line">
            <a:avLst/>
          </a:prstGeom>
          <a:ln w="635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55279" y="4572000"/>
            <a:ext cx="6035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mbria"/>
                <a:ea typeface="맑은 고딕"/>
                <a:cs typeface="맑은 고딕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" y="1280160"/>
            <a:ext cx="8284464" cy="566928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q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924" y="1324691"/>
            <a:ext cx="4410151" cy="477865"/>
          </a:xfrm>
          <a:prstGeom prst="rect">
            <a:avLst/>
          </a:prstGeom>
        </p:spPr>
      </p:pic>
      <p:pic>
        <p:nvPicPr>
          <p:cNvPr id="11" name="Picture 10" descr="eq_ha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65960"/>
            <a:ext cx="2994355" cy="29504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29768" y="2514600"/>
            <a:ext cx="36576" cy="20116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468880"/>
            <a:ext cx="4160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Haar 무작위 상태 M = 4개 (+ held-out 2개)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Cambria"/>
                <a:ea typeface="맑은 고딕"/>
                <a:cs typeface="맑은 고딕"/>
              </a:rPr>
              <a:t>Haar 평균 = 정규화 HS 오차 ‖U − e^(iφ)V‖²_F / 2d. 30큐비트에서 HST는 계산 불가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" y="3154679"/>
            <a:ext cx="36576" cy="20116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108960"/>
            <a:ext cx="4160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잔차 벡터 r로 계산한다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Cambria"/>
                <a:ea typeface="맑은 고딕"/>
                <a:cs typeface="맑은 고딕"/>
              </a:rPr>
              <a:t>1 − |⟨Vψ|Uψ⟩|²를 직접 쓰면 J ≈ 10⁻¹³에서 상쇄 오차로 정체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" y="3794759"/>
            <a:ext cx="36576" cy="20116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749039"/>
            <a:ext cx="4160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Vψ = exp(−iHt)ψ는 학습 전에 한 번 계산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Cambria"/>
                <a:ea typeface="맑은 고딕"/>
                <a:cs typeface="맑은 고딕"/>
              </a:rPr>
              <a:t>Chebyshev 전개 (약 9항, complex128)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468880"/>
            <a:ext cx="36393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M = 4로 충분한가 (기준과의 차이)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074920" y="2788920"/>
          <a:ext cx="3639310" cy="1234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74628"/>
                <a:gridCol w="957713"/>
                <a:gridCol w="957713"/>
                <a:gridCol w="1149256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n</a:t>
                      </a:r>
                    </a:p>
                  </a:txBody>
                  <a:tcPr marL="45720" marR="45720" marT="18288" marB="18288"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손실</a:t>
                      </a:r>
                    </a:p>
                  </a:txBody>
                  <a:tcPr marL="45720" marR="45720" marT="18288" marB="18288"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ε_spec</a:t>
                      </a:r>
                    </a:p>
                  </a:txBody>
                  <a:tcPr marL="45720" marR="45720" marT="18288" marB="18288"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상태별 퍼짐</a:t>
                      </a:r>
                    </a:p>
                  </a:txBody>
                  <a:tcPr marL="45720" marR="45720" marT="18288" marB="18288" anchor="ctr">
                    <a:solidFill>
                      <a:srgbClr val="002B5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+1.09 %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+0.39 %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7.9 %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12</a:t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+0.09 %</a:t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+0.05 %</a:t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2.1 %</a:t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16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+0.01 %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+0.01 %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0.38 %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20</a:t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≤ 0.01 %</a:t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074920" y="4069080"/>
            <a:ext cx="3639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Cambria"/>
                <a:ea typeface="맑은 고딕"/>
                <a:cs typeface="맑은 고딕"/>
              </a:rPr>
              <a:t>퍼짐 ∝ 2^(−n/2) → 30큐비트에서 약 5×10⁻⁵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256032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03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92608"/>
            <a:ext cx="4507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HHKL-VQA toy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795528"/>
            <a:ext cx="36576" cy="27432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8138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Adjoint 미분: 메모리가 회로 깊이와 무관한 기울기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18304"/>
            <a:ext cx="9144000" cy="429768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375904" y="4572000"/>
            <a:ext cx="182880" cy="0"/>
          </a:xfrm>
          <a:prstGeom prst="line">
            <a:avLst/>
          </a:prstGeom>
          <a:ln w="635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55279" y="4572000"/>
            <a:ext cx="6035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mbria"/>
                <a:ea typeface="맑은 고딕"/>
                <a:cs typeface="맑은 고딕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" y="1280160"/>
            <a:ext cx="4206240" cy="246888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389888"/>
            <a:ext cx="40233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02B5C"/>
                </a:solidFill>
                <a:latin typeface="Courier New"/>
                <a:ea typeface="맑은 고딕"/>
                <a:cs typeface="맑은 고딕"/>
              </a:rPr>
              <a:t>U = G_P ··· G_2 G_1,   G_k = exp(−iθ_k A_k)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002B5C"/>
                </a:solidFill>
                <a:latin typeface="Courier New"/>
                <a:ea typeface="맑은 고딕"/>
                <a:cs typeface="맑은 고딕"/>
              </a:rPr>
              <a:t> 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002B5C"/>
                </a:solidFill>
                <a:latin typeface="Courier New"/>
                <a:ea typeface="맑은 고딕"/>
                <a:cs typeface="맑은 고딕"/>
              </a:rPr>
              <a:t>φ = ψ;  for k = 1..P:  φ = G_k φ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002B5C"/>
                </a:solidFill>
                <a:latin typeface="Courier New"/>
                <a:ea typeface="맑은 고딕"/>
                <a:cs typeface="맑은 고딕"/>
              </a:rPr>
              <a:t>r = φ − exp(iφ̂) Vψ;   λ = r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002B5C"/>
                </a:solidFill>
                <a:latin typeface="Courier New"/>
                <a:ea typeface="맑은 고딕"/>
                <a:cs typeface="맑은 고딕"/>
              </a:rPr>
              <a:t>for k = P..1: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002B5C"/>
                </a:solidFill>
                <a:latin typeface="Courier New"/>
                <a:ea typeface="맑은 고딕"/>
                <a:cs typeface="맑은 고딕"/>
              </a:rPr>
              <a:t>    g[k] = Im⟨λ|A_k|φ⟩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002B5C"/>
                </a:solidFill>
                <a:latin typeface="Courier New"/>
                <a:ea typeface="맑은 고딕"/>
                <a:cs typeface="맑은 고딕"/>
              </a:rPr>
              <a:t>    φ = G_k† φ;   λ = G_k† λ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002B5C"/>
                </a:solidFill>
                <a:latin typeface="Courier New"/>
                <a:ea typeface="맑은 고딕"/>
                <a:cs typeface="맑은 고딕"/>
              </a:rPr>
              <a:t> </a:t>
            </a:r>
          </a:p>
          <a:p>
            <a:pPr algn="l">
              <a:spcBef>
                <a:spcPts val="200"/>
              </a:spcBef>
            </a:pPr>
            <a:r>
              <a:rPr sz="950" b="0" i="0">
                <a:solidFill>
                  <a:srgbClr val="002B5C"/>
                </a:solidFill>
                <a:latin typeface="Courier New"/>
                <a:ea typeface="맑은 고딕"/>
                <a:cs typeface="맑은 고딕"/>
              </a:rPr>
              <a:t>∂J/∂c_j = t · Σ g[k]  (c_j를 쓰는 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384048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Cambria"/>
                <a:ea typeface="맑은 고딕"/>
                <a:cs typeface="맑은 고딕"/>
              </a:rPr>
              <a:t>forward 한 번, backward 한 번으로 모든 θ_k의 기울기</a:t>
            </a:r>
          </a:p>
        </p:txBody>
      </p:sp>
      <p:pic>
        <p:nvPicPr>
          <p:cNvPr id="12" name="Picture 11" descr="eq_ad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261872"/>
            <a:ext cx="2689555" cy="27553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892040" y="1828800"/>
            <a:ext cx="36576" cy="20116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783080"/>
            <a:ext cx="3703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상태당 벡터 3~4개만 필요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Cambria"/>
                <a:ea typeface="맑은 고딕"/>
                <a:cs typeface="맑은 고딕"/>
              </a:rPr>
              <a:t>autograd는 게이트마다 중간 상태 저장 (30큐비트에서 각 17 GB) → 불가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92040" y="2468879"/>
            <a:ext cx="36576" cy="20116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423160"/>
            <a:ext cx="3703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계산량은 forward의 약 3배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Cambria"/>
                <a:ea typeface="맑은 고딕"/>
                <a:cs typeface="맑은 고딕"/>
              </a:rPr>
              <a:t>슬롯 안 항들이 교환 → 한 슬롯의 두 기울기를 함께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3108960"/>
            <a:ext cx="36576" cy="20116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3063240"/>
            <a:ext cx="3703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φ̂는 상수로 취급 (envelope 정리)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Cambria"/>
                <a:ea typeface="맑은 고딕"/>
                <a:cs typeface="맑은 고딕"/>
              </a:rPr>
              <a:t>φ̂는 위상에 대한 최적점이므로 미분 기여 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40" y="3749039"/>
            <a:ext cx="36576" cy="20116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3703320"/>
            <a:ext cx="3703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진단: backward 후 ‖φ − ψ‖ ≲ 10⁻¹³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Cambria"/>
                <a:ea typeface="맑은 고딕"/>
                <a:cs typeface="맑은 고딕"/>
              </a:rPr>
              <a:t>실측 drift ≤ 3×10⁻¹⁴, 중앙차분과 상대오차 ~10⁻⁹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256032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03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92608"/>
            <a:ext cx="4507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HHKL-VQA toy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795528"/>
            <a:ext cx="36576" cy="27432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8138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최적화: 헤시안으로 전처리한 L-BFGS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18304"/>
            <a:ext cx="9144000" cy="429768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375904" y="4572000"/>
            <a:ext cx="182880" cy="0"/>
          </a:xfrm>
          <a:prstGeom prst="line">
            <a:avLst/>
          </a:prstGeom>
          <a:ln w="635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55279" y="4572000"/>
            <a:ext cx="6035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mbria"/>
                <a:ea typeface="맑은 고딕"/>
                <a:cs typeface="맑은 고딕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" y="1325880"/>
            <a:ext cx="36576" cy="20116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280160"/>
            <a:ext cx="4160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L-BFGS (scipy L-BFGS-B), 파라미터 ≤ 77개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Cambria"/>
                <a:ea typeface="맑은 고딕"/>
                <a:cs typeface="맑은 고딕"/>
              </a:rPr>
              <a:t>목적함수 J/J₀ (J₀ = Trotter 초기값), 함수·기울기만 GPU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" y="1920239"/>
            <a:ext cx="36576" cy="20116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874519"/>
            <a:ext cx="4160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문제: Trotter 점의 헤시안 조건수 ≈ 10¹⁰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Cambria"/>
                <a:ea typeface="맑은 고딕"/>
                <a:cs typeface="맑은 고딕"/>
              </a:rPr>
              <a:t>고윳값 층 10¹⁰ (그룹별 총 시간) / 10⁵ / 10¹ / 0 → 약 150회 정체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" y="2514600"/>
            <a:ext cx="36576" cy="20116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68880"/>
            <a:ext cx="4160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해결: 헤시안으로 좌표 변환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Cambria"/>
                <a:ea typeface="맑은 고딕"/>
                <a:cs typeface="맑은 고딕"/>
              </a:rPr>
              <a:t>전방 차분으로 헤시안 (기울기 P+1회), 음의 고윳값은 |w|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" y="3017520"/>
            <a:ext cx="4297680" cy="438912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eq_preco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952" y="3147364"/>
            <a:ext cx="3169310" cy="17922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29768" y="3657600"/>
            <a:ext cx="36576" cy="20116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611880"/>
            <a:ext cx="4160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작은 패치의 헤시안을 옮겨 써도 된다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Cambria"/>
                <a:ea typeface="맑은 고딕"/>
                <a:cs typeface="맑은 고딕"/>
              </a:rPr>
              <a:t>네 색이 모두 있는 패치면 전처리 후 조건수 2~3 (5×6 → 5×4 사용)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280160"/>
            <a:ext cx="36393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J/J₀ (반복 수), t*, M = 4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074920" y="1600200"/>
          <a:ext cx="3639311" cy="1234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57713"/>
                <a:gridCol w="1340799"/>
                <a:gridCol w="1340799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패치, L</a:t>
                      </a:r>
                    </a:p>
                  </a:txBody>
                  <a:tcPr marL="45720" marR="45720" marT="18288" marB="18288"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그냥 L-BFGS</a:t>
                      </a:r>
                    </a:p>
                  </a:txBody>
                  <a:tcPr marL="45720" marR="45720" marT="18288" marB="18288"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전처리</a:t>
                      </a:r>
                    </a:p>
                  </a:txBody>
                  <a:tcPr marL="45720" marR="45720" marT="18288" marB="18288" anchor="ctr">
                    <a:solidFill>
                      <a:srgbClr val="002B5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3×3, 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0.1988 (317)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0.1986 (35)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3×3, 6</a:t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0.1701 (524)</a:t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0.1425 (87)</a:t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3×4, 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0.1805 (523)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0.1535 (92)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4×4, 4</a:t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0.1982 (447)</a:t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0.1981 (43)</a:t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5074920" y="3063240"/>
            <a:ext cx="3639312" cy="914400"/>
          </a:xfrm>
          <a:prstGeom prst="rect">
            <a:avLst/>
          </a:prstGeom>
          <a:solidFill>
            <a:srgbClr val="DCE8F7"/>
          </a:solidFill>
          <a:ln w="952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3136392"/>
            <a:ext cx="363931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반복 수 5~10배 감소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59" y="3611880"/>
            <a:ext cx="34564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Cambria"/>
                <a:ea typeface="맑은 고딕"/>
                <a:cs typeface="맑은 고딕"/>
              </a:rPr>
              <a:t>L = 6에서는 더 낮은 극소에 도달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4069080"/>
            <a:ext cx="3639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Cambria"/>
                <a:ea typeface="맑은 고딕"/>
                <a:cs typeface="맑은 고딕"/>
              </a:rPr>
              <a:t>종료: 30회 동안 개선 &lt; 0.1 %, 500회, scipy 종료 중 먼저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256032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03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92608"/>
            <a:ext cx="4507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HHKL-VQA toy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795528"/>
            <a:ext cx="36576" cy="27432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8138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Spectral norm 인증: Lanczos로 고유위상의 원호 폭 측정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18304"/>
            <a:ext cx="9144000" cy="429768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375904" y="4572000"/>
            <a:ext cx="182880" cy="0"/>
          </a:xfrm>
          <a:prstGeom prst="line">
            <a:avLst/>
          </a:prstGeom>
          <a:ln w="635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55279" y="4572000"/>
            <a:ext cx="6035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mbria"/>
                <a:ea typeface="맑은 고딕"/>
                <a:cs typeface="맑은 고딕"/>
              </a:rPr>
              <a:t>12</a:t>
            </a:r>
          </a:p>
        </p:txBody>
      </p:sp>
      <p:pic>
        <p:nvPicPr>
          <p:cNvPr id="9" name="Picture 8" descr="cert_a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3917247" cy="32918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434840" y="1280160"/>
            <a:ext cx="4279392" cy="45720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q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944" y="1380195"/>
            <a:ext cx="3241182" cy="25712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434840" y="1828800"/>
            <a:ext cx="4279392" cy="45720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q_e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2860" y="1915515"/>
            <a:ext cx="3343351" cy="28376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434840" y="2468879"/>
            <a:ext cx="36576" cy="20116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423160"/>
            <a:ext cx="414223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Lanczos로 S의 최대·최소 고윳값을 동시에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Cambria"/>
                <a:ea typeface="맑은 고딕"/>
                <a:cs typeface="맑은 고딕"/>
              </a:rPr>
              <a:t>δ = arcsin λ.  w는 φ̂와 무관 → 위상 추정이 대략적이어도 정확</a:t>
            </a:r>
          </a:p>
        </p:txBody>
      </p:sp>
      <p:pic>
        <p:nvPicPr>
          <p:cNvPr id="16" name="Picture 15" descr="eq_S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999232"/>
            <a:ext cx="2291120" cy="239207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434840" y="3383279"/>
            <a:ext cx="36576" cy="20116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337560"/>
            <a:ext cx="414223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1회 = 회로 2번 + Chebyshev 2번 (학습 상태 미사용)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Cambria"/>
                <a:ea typeface="맑은 고딕"/>
                <a:cs typeface="맑은 고딕"/>
              </a:rPr>
              <a:t>Ritz 값은 안쪽에서 수렴(과소평가) → 폭 대비 10⁻⁴ 수렴, 시작 벡터 2개 중 큰 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206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Cambria"/>
                <a:ea typeface="맑은 고딕"/>
                <a:cs typeface="맑은 고딕"/>
              </a:rPr>
              <a:t>검증: 정확 대각화와 상대오차 ~10⁻¹¹ (n ≤ 12), complex128 필수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256032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04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92608"/>
            <a:ext cx="4507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HHKL-VQA toy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795528"/>
            <a:ext cx="36576" cy="27432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8138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데스크탑 리허설: 블록 크기에 따른 인증 오차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18304"/>
            <a:ext cx="9144000" cy="429768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375904" y="4572000"/>
            <a:ext cx="182880" cy="0"/>
          </a:xfrm>
          <a:prstGeom prst="line">
            <a:avLst/>
          </a:prstGeom>
          <a:ln w="635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55279" y="4572000"/>
            <a:ext cx="6035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mbria"/>
                <a:ea typeface="맑은 고딕"/>
                <a:cs typeface="맑은 고딕"/>
              </a:rPr>
              <a:t>13</a:t>
            </a:r>
          </a:p>
        </p:txBody>
      </p:sp>
      <p:pic>
        <p:nvPicPr>
          <p:cNvPr id="9" name="Picture 8" descr="stage8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806440" cy="31057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9768" y="4343400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mbria"/>
                <a:ea typeface="맑은 고딕"/>
                <a:cs typeface="맑은 고딕"/>
              </a:rPr>
              <a:t>3×3, 3×4, 4×4: 클라우드 CPU / 4×5, 4×6: RTX 2060 / 49본드의 빈 기호: 5×6 외삽 예측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280160"/>
            <a:ext cx="36576" cy="20116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3444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점선 = Trotter 초기값
실선 = 학습 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828800"/>
            <a:ext cx="36576" cy="20116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830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오차 ∝ 본드 수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Cambria"/>
                <a:ea typeface="맑은 고딕"/>
                <a:cs typeface="맑은 고딕"/>
              </a:rPr>
              <a:t>본드당 오차가 31, 38본드에서 0.3 % 안에서 같다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2560320"/>
            <a:ext cx="36576" cy="20116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51460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학습 개선 배수는 크기와 무관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Cambria"/>
                <a:ea typeface="맑은 고딕"/>
                <a:cs typeface="맑은 고딕"/>
              </a:rPr>
              <a:t>9~24큐비트: L = 2: 1.3배, 4: 2.5배, 6(Y4): 1.9배, 10: 1.8배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3474720"/>
            <a:ext cx="36576" cy="20116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42900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차수가 결정한다</a:t>
            </a:r>
          </a:p>
          <a:p>
            <a:pPr algn="l"/>
            <a:r>
              <a:rPr sz="1000" b="0" i="0">
                <a:solidFill>
                  <a:srgbClr val="555555"/>
                </a:solidFill>
                <a:latin typeface="Cambria"/>
                <a:ea typeface="맑은 고딕"/>
                <a:cs typeface="맑은 고딕"/>
              </a:rPr>
              <a:t>2차(S2 계열)와 4차(Y4, S4) 사이 2~3자릿수. 학습은 그 위에 약 2배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256032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04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92608"/>
            <a:ext cx="4507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HHKL-VQA toy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795528"/>
            <a:ext cx="36576" cy="274320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8138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5×6 블록 예측과 ε_blk = 1.71×10⁻⁹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18304"/>
            <a:ext cx="9144000" cy="429768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375904" y="4572000"/>
            <a:ext cx="182880" cy="0"/>
          </a:xfrm>
          <a:prstGeom prst="line">
            <a:avLst/>
          </a:prstGeom>
          <a:ln w="635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55279" y="4572000"/>
            <a:ext cx="6035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mbria"/>
                <a:ea typeface="맑은 고딕"/>
                <a:cs typeface="맑은 고딕"/>
              </a:rPr>
              <a:t>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29768" y="1280160"/>
          <a:ext cx="8284460" cy="1371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83508"/>
                <a:gridCol w="1283508"/>
                <a:gridCol w="1283508"/>
                <a:gridCol w="1750238"/>
                <a:gridCol w="1750238"/>
                <a:gridCol w="93346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L (초기값)</a:t>
                      </a:r>
                    </a:p>
                  </a:txBody>
                  <a:tcPr marL="45720" marR="45720" marT="18288" marB="18288"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4×5 학습 후</a:t>
                      </a:r>
                    </a:p>
                  </a:txBody>
                  <a:tcPr marL="45720" marR="45720" marT="18288" marB="18288"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4×6 학습 후</a:t>
                      </a:r>
                    </a:p>
                  </a:txBody>
                  <a:tcPr marL="45720" marR="45720" marT="18288" marB="18288"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5×6 예측 (학습 전)</a:t>
                      </a:r>
                    </a:p>
                  </a:txBody>
                  <a:tcPr marL="45720" marR="45720" marT="18288" marB="18288"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5×6 예측 (학습 후)</a:t>
                      </a:r>
                    </a:p>
                  </a:txBody>
                  <a:tcPr marL="45720" marR="45720" marT="18288" marB="18288"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/ ε_blk</a:t>
                      </a:r>
                    </a:p>
                  </a:txBody>
                  <a:tcPr marL="45720" marR="45720" marT="18288" marB="18288" anchor="ctr">
                    <a:solidFill>
                      <a:srgbClr val="002B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2 (S2)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4.97e-6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6.01e-6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1.0e-5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7.8e-6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4600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4 (S2²)</a:t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6.47e-7</a:t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7.87e-7</a:t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2.6e-6</a:t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1.0e-6</a:t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600</a:t>
                      </a:r>
                    </a:p>
                  </a:txBody>
                  <a:tcPr marL="45720" marR="45720" marT="18288" marB="18288" anchor="ctr">
                    <a:solidFill>
                      <a:srgbClr val="F2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6 (Y4)</a:t>
                      </a:r>
                    </a:p>
                  </a:txBody>
                  <a:tcPr marL="45720" marR="45720" marT="18288" marB="18288" anchor="ctr">
                    <a:solidFill>
                      <a:srgbClr val="DC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1.41e-9</a:t>
                      </a:r>
                    </a:p>
                  </a:txBody>
                  <a:tcPr marL="45720" marR="45720" marT="18288" marB="18288" anchor="ctr">
                    <a:solidFill>
                      <a:srgbClr val="DC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1.72e-9</a:t>
                      </a:r>
                    </a:p>
                  </a:txBody>
                  <a:tcPr marL="45720" marR="45720" marT="18288" marB="18288" anchor="ctr">
                    <a:solidFill>
                      <a:srgbClr val="DC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4.4e-9</a:t>
                      </a:r>
                    </a:p>
                  </a:txBody>
                  <a:tcPr marL="45720" marR="45720" marT="18288" marB="18288" anchor="ctr">
                    <a:solidFill>
                      <a:srgbClr val="DC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2.2e-9</a:t>
                      </a:r>
                    </a:p>
                  </a:txBody>
                  <a:tcPr marL="45720" marR="45720" marT="18288" marB="18288" anchor="ctr">
                    <a:solidFill>
                      <a:srgbClr val="DC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1.3</a:t>
                      </a:r>
                    </a:p>
                  </a:txBody>
                  <a:tcPr marL="45720" marR="45720" marT="18288" marB="18288" anchor="ctr">
                    <a:solidFill>
                      <a:srgbClr val="DCE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10 (S4)</a:t>
                      </a:r>
                    </a:p>
                  </a:txBody>
                  <a:tcPr marL="45720" marR="45720" marT="18288" marB="18288" anchor="ctr">
                    <a:solidFill>
                      <a:srgbClr val="DC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5.75e-11</a:t>
                      </a:r>
                    </a:p>
                  </a:txBody>
                  <a:tcPr marL="45720" marR="45720" marT="18288" marB="18288" anchor="ctr">
                    <a:solidFill>
                      <a:srgbClr val="DC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7.15e-11</a:t>
                      </a:r>
                    </a:p>
                  </a:txBody>
                  <a:tcPr marL="45720" marR="45720" marT="18288" marB="18288" anchor="ctr">
                    <a:solidFill>
                      <a:srgbClr val="DC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1.7e-10</a:t>
                      </a:r>
                    </a:p>
                  </a:txBody>
                  <a:tcPr marL="45720" marR="45720" marT="18288" marB="18288" anchor="ctr">
                    <a:solidFill>
                      <a:srgbClr val="DC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9.6e-11</a:t>
                      </a:r>
                    </a:p>
                  </a:txBody>
                  <a:tcPr marL="45720" marR="45720" marT="18288" marB="18288" anchor="ctr">
                    <a:solidFill>
                      <a:srgbClr val="DCE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002B5C"/>
                          </a:solidFill>
                          <a:latin typeface="Cambria"/>
                          <a:ea typeface="맑은 고딕"/>
                          <a:cs typeface="맑은 고딕"/>
                        </a:rPr>
                        <a:t>0.056</a:t>
                      </a:r>
                    </a:p>
                  </a:txBody>
                  <a:tcPr marL="45720" marR="45720" marT="18288" marB="18288" anchor="ctr">
                    <a:solidFill>
                      <a:srgbClr val="DCE8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29768" y="2697480"/>
            <a:ext cx="82844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Cambria"/>
                <a:ea typeface="맑은 고딕"/>
                <a:cs typeface="맑은 고딕"/>
              </a:rPr>
              <a:t>인증된 ε_spec. 5×6 예측 = 작은 패치 결과를 본드 수 비율(×49/본드 수)로 환산·외삽. 무질서 seed 편차 4~8 %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" y="3063240"/>
            <a:ext cx="2651760" cy="1325880"/>
          </a:xfrm>
          <a:prstGeom prst="rect">
            <a:avLst/>
          </a:prstGeom>
          <a:solidFill>
            <a:srgbClr val="DCE8F7"/>
          </a:solidFill>
          <a:ln w="952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3136392"/>
            <a:ext cx="2651760" cy="729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L =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858768"/>
            <a:ext cx="2468879" cy="4640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Cambria"/>
                <a:ea typeface="맑은 고딕"/>
                <a:cs typeface="맑은 고딕"/>
              </a:rPr>
              <a:t>ε_blk의 1/18. 학습 전 S4만으로도 만족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3063240"/>
            <a:ext cx="2651760" cy="1325880"/>
          </a:xfrm>
          <a:prstGeom prst="rect">
            <a:avLst/>
          </a:prstGeom>
          <a:solidFill>
            <a:srgbClr val="FBEEDA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3136392"/>
            <a:ext cx="2651760" cy="729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L = 6 (Y4)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858768"/>
            <a:ext cx="2468879" cy="4640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Cambria"/>
                <a:ea typeface="맑은 고딕"/>
                <a:cs typeface="맑은 고딕"/>
              </a:rPr>
              <a:t>ε_blk의 1.3배. 학습으로 2.6배 → 1.3배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2472" y="3063240"/>
            <a:ext cx="2651760" cy="1325880"/>
          </a:xfrm>
          <a:prstGeom prst="rect">
            <a:avLst/>
          </a:prstGeom>
          <a:solidFill>
            <a:srgbClr val="F2F5F9"/>
          </a:solidFill>
          <a:ln w="9525">
            <a:solidFill>
              <a:srgbClr val="D5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62472" y="3136392"/>
            <a:ext cx="2651760" cy="729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02B5C"/>
                </a:solidFill>
                <a:latin typeface="Cambria"/>
                <a:ea typeface="맑은 고딕"/>
                <a:cs typeface="맑은 고딕"/>
              </a:rPr>
              <a:t>H200 다음 단계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3912" y="3858768"/>
            <a:ext cx="2468879" cy="4640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Cambria"/>
                <a:ea typeface="맑은 고딕"/>
                <a:cs typeface="맑은 고딕"/>
              </a:rPr>
              <a:t>5×6, L = 2, 4, 6, 10 (약 5시간)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1547</Words>
  <Application>Microsoft Office PowerPoint</Application>
  <PresentationFormat>화면 슬라이드 쇼(16:9)</PresentationFormat>
  <Paragraphs>277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맑은 고딕</vt:lpstr>
      <vt:lpstr>Arial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최현우</cp:lastModifiedBy>
  <cp:revision>3</cp:revision>
  <dcterms:created xsi:type="dcterms:W3CDTF">2026-09-10T12:42:08Z</dcterms:created>
  <dcterms:modified xsi:type="dcterms:W3CDTF">2026-09-10T16:35:51Z</dcterms:modified>
</cp:coreProperties>
</file>